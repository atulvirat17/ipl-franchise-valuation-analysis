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44" r:id="rId1"/>
  </p:sldMasterIdLst>
  <p:notesMasterIdLst>
    <p:notesMasterId r:id="rId26"/>
  </p:notesMasterIdLst>
  <p:sldIdLst>
    <p:sldId id="256" r:id="rId2"/>
    <p:sldId id="257" r:id="rId3"/>
    <p:sldId id="258" r:id="rId4"/>
    <p:sldId id="276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8" r:id="rId23"/>
    <p:sldId id="279" r:id="rId24"/>
    <p:sldId id="280" r:id="rId25"/>
  </p:sldIdLst>
  <p:sldSz cx="12192000" cy="6858000"/>
  <p:notesSz cx="6858000" cy="12192000"/>
  <p:embeddedFontLst>
    <p:embeddedFont>
      <p:font typeface="Anton" pitchFamily="2" charset="77"/>
      <p:regular r:id="rId27"/>
    </p:embeddedFont>
    <p:embeddedFont>
      <p:font typeface="Century Gothic" panose="020B0502020202020204" pitchFamily="34" charset="0"/>
      <p:regular r:id="rId28"/>
      <p:bold r:id="rId29"/>
      <p:italic r:id="rId30"/>
      <p:boldItalic r:id="rId31"/>
    </p:embeddedFont>
    <p:embeddedFont>
      <p:font typeface="Fira Sans" panose="020B0503050000020004" pitchFamily="34" charset="0"/>
      <p:regular r:id="rId32"/>
      <p:bold r:id="rId33"/>
      <p:italic r:id="rId34"/>
    </p:embeddedFont>
    <p:embeddedFont>
      <p:font typeface="Fira Sans Bold" panose="020B0803050000020004" pitchFamily="34" charset="0"/>
      <p:regular r:id="rId35"/>
      <p:bold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82C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08"/>
    <p:restoredTop sz="94610"/>
  </p:normalViewPr>
  <p:slideViewPr>
    <p:cSldViewPr snapToGrid="0" snapToObjects="1">
      <p:cViewPr>
        <p:scale>
          <a:sx n="116" d="100"/>
          <a:sy n="116" d="100"/>
        </p:scale>
        <p:origin x="32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465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7242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2577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5594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8066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80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3904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4766832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65515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066703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71935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10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657667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695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74625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85358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079519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16536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591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9/8/26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561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  <p:sldLayoutId id="2147483762" r:id="rId18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hindustantimes.com" TargetMode="External"/><Relationship Id="rId13" Type="http://schemas.openxmlformats.org/officeDocument/2006/relationships/hyperlink" Target="https://www.instagram.com" TargetMode="External"/><Relationship Id="rId3" Type="http://schemas.openxmlformats.org/officeDocument/2006/relationships/hyperlink" Target="https://www.hl.com" TargetMode="External"/><Relationship Id="rId7" Type="http://schemas.openxmlformats.org/officeDocument/2006/relationships/hyperlink" Target="https://wisden.com" TargetMode="External"/><Relationship Id="rId12" Type="http://schemas.openxmlformats.org/officeDocument/2006/relationships/hyperlink" Target="https://censusindia.gov.i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en.wikipedia.org/wiki/List_of_Indian_Premier_League_records_and_statistics" TargetMode="External"/><Relationship Id="rId11" Type="http://schemas.openxmlformats.org/officeDocument/2006/relationships/hyperlink" Target="https://www.forbesindia.com" TargetMode="External"/><Relationship Id="rId5" Type="http://schemas.openxmlformats.org/officeDocument/2006/relationships/hyperlink" Target="https://stats.espncricinfo.com" TargetMode="External"/><Relationship Id="rId10" Type="http://schemas.openxmlformats.org/officeDocument/2006/relationships/hyperlink" Target="https://www.siasat.com" TargetMode="External"/><Relationship Id="rId4" Type="http://schemas.openxmlformats.org/officeDocument/2006/relationships/hyperlink" Target="https://www.iplt20.com" TargetMode="External"/><Relationship Id="rId9" Type="http://schemas.openxmlformats.org/officeDocument/2006/relationships/hyperlink" Target="https://www.indiatoday.in" TargetMode="External"/><Relationship Id="rId14" Type="http://schemas.openxmlformats.org/officeDocument/2006/relationships/hyperlink" Target="https://x.com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35484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Beyond the Boundary: What Actually Drives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a Billion-Dollar IPL Valuation?</a:t>
            </a:r>
            <a:endParaRPr lang="en-US" sz="32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2699643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Course:</a:t>
            </a: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BM5104H Business Statistics and Data Analysis 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for</a:t>
            </a: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Management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3150295"/>
            <a:ext cx="1995636" cy="251420"/>
          </a:xfrm>
          <a:prstGeom prst="roundRect">
            <a:avLst>
              <a:gd name="adj" fmla="val 7894"/>
            </a:avLst>
          </a:prstGeom>
          <a:solidFill>
            <a:srgbClr val="49031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60691" y="3199904"/>
            <a:ext cx="2406788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DATA TANK GROUP ASSIGNMENT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39758" y="3150295"/>
            <a:ext cx="1011808" cy="251420"/>
          </a:xfrm>
          <a:prstGeom prst="roundRect">
            <a:avLst>
              <a:gd name="adj" fmla="val 7894"/>
            </a:avLst>
          </a:prstGeom>
          <a:noFill/>
          <a:ln w="6350">
            <a:solidFill>
              <a:srgbClr val="FA95A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8974" y="3199904"/>
            <a:ext cx="1422960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kern="0" spc="-26" dirty="0">
                <a:solidFill>
                  <a:srgbClr val="FA95A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TEAM SHARK 9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9004358"/>
              </p:ext>
            </p:extLst>
          </p:nvPr>
        </p:nvGraphicFramePr>
        <p:xfrm>
          <a:off x="661475" y="3587750"/>
          <a:ext cx="10868745" cy="1922018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#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Name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Roll Number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1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Pranav C Satheesh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264024021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2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Kunwar Atul Ang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252241017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3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Parth Arvind Deshmukh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kern="0" spc="-26" dirty="0">
                          <a:solidFill>
                            <a:srgbClr val="E0D6DE"/>
                          </a:solidFill>
                          <a:latin typeface="Times New Roman" panose="02020603050405020304" pitchFamily="18" charset="0"/>
                          <a:ea typeface="Fira Sans" pitchFamily="34" charset="-122"/>
                          <a:cs typeface="Times New Roman" panose="02020603050405020304" pitchFamily="18" charset="0"/>
                        </a:rPr>
                        <a:t>264024020</a:t>
                      </a:r>
                      <a:endParaRPr lang="en-US" sz="1600" dirty="0">
                        <a:latin typeface="Times New Roman" panose="02020603050405020304" pitchFamily="18" charset="0"/>
                        <a:ea typeface="Fira Sans" charset="0"/>
                        <a:cs typeface="Times New Roman" panose="02020603050405020304" pitchFamily="18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11A920B2-C373-FF46-8A81-C8690C17A4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61" y="326483"/>
            <a:ext cx="2505468" cy="2505468"/>
          </a:xfrm>
          <a:prstGeom prst="rect">
            <a:avLst/>
          </a:prstGeom>
          <a:noFill/>
          <a:ln>
            <a:noFill/>
          </a:ln>
          <a:effectLst>
            <a:glow rad="63500">
              <a:srgbClr val="F782C1">
                <a:alpha val="67059"/>
              </a:srgb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7156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The Business Question</a:t>
            </a:r>
            <a:endParaRPr lang="en-US" sz="32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909516" y="2105025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 a corporate entity looking to invest in or sponsor an IPL franchise, what is the most cost-effective driver of franchise valuation?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1918990"/>
            <a:ext cx="19050" cy="636687"/>
          </a:xfrm>
          <a:prstGeom prst="roundRect">
            <a:avLst>
              <a:gd name="adj" fmla="val 49999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61475" y="2741712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6769" y="2907010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E0D6DE"/>
                </a:solidFill>
                <a:latin typeface="+mj-lt"/>
                <a:ea typeface="Anton" pitchFamily="34" charset="-122"/>
                <a:cs typeface="Anton" pitchFamily="34" charset="-120"/>
              </a:rPr>
              <a:t>On-Field Performance</a:t>
            </a:r>
            <a:endParaRPr lang="en-US" sz="1600" dirty="0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6769" y="3264694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Wins and titles. </a:t>
            </a:r>
            <a:r>
              <a:rPr lang="en-US" sz="1300" i="1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The intuitive answer.</a:t>
            </a:r>
            <a:endParaRPr lang="en-US" sz="1300" dirty="0">
              <a:latin typeface="+mj-lt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39422" y="2741712"/>
            <a:ext cx="3512752" cy="121751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04716" y="2907010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E0D6DE"/>
                </a:solidFill>
                <a:latin typeface="+mj-lt"/>
                <a:ea typeface="Anton" pitchFamily="34" charset="-122"/>
                <a:cs typeface="Anton" pitchFamily="34" charset="-120"/>
              </a:rPr>
              <a:t>Geographic Market Size</a:t>
            </a:r>
            <a:endParaRPr lang="en-US" sz="16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04716" y="3264694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Home-city GDP and population. </a:t>
            </a:r>
            <a:r>
              <a:rPr lang="en-US" sz="1300" i="1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The economist's answer.</a:t>
            </a:r>
            <a:endParaRPr lang="en-US" sz="130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17468" y="2741712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182762" y="2907010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E0D6DE"/>
                </a:solidFill>
                <a:latin typeface="+mj-lt"/>
                <a:ea typeface="Anton" pitchFamily="34" charset="-122"/>
                <a:cs typeface="Anton" pitchFamily="34" charset="-120"/>
              </a:rPr>
              <a:t>Off-Field Digital Engagement</a:t>
            </a:r>
            <a:endParaRPr lang="en-US" sz="1600" dirty="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82762" y="3264694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Social media following. </a:t>
            </a:r>
            <a:r>
              <a:rPr lang="en-US" sz="1300" i="1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The modern answer.</a:t>
            </a:r>
            <a:endParaRPr lang="en-US" sz="130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1475" y="4145260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Dependent variable (Y):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 2025 Franchise Brand Value (US$M) · </a:t>
            </a: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Independent variables (X):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 Titles · All-Time Win% · Playoff Appearances · Home City GDP · Population · Social Media Followers · Auction Spend</a:t>
            </a:r>
            <a:endParaRPr lang="en-US" sz="13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61475" y="4860528"/>
            <a:ext cx="10868745" cy="925909"/>
          </a:xfrm>
          <a:prstGeom prst="roundRect">
            <a:avLst>
              <a:gd name="adj" fmla="val 2679"/>
            </a:avLst>
          </a:prstGeom>
          <a:solidFill>
            <a:srgbClr val="7A0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100241"/>
            <a:ext cx="206667" cy="16529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98731" y="5067102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FFFFFF"/>
                </a:solidFill>
                <a:latin typeface="+mj-lt"/>
                <a:ea typeface="Fira Sans" pitchFamily="34" charset="-122"/>
                <a:cs typeface="Fira Sans" pitchFamily="34" charset="-120"/>
              </a:rPr>
              <a:t>The IPL's total business value hit US$18.5 billion in 2025. The decision this pitch informs: where should a franchise board send its </a:t>
            </a:r>
            <a:r>
              <a:rPr lang="en-US" sz="1300" b="1" kern="0" spc="-26" dirty="0">
                <a:solidFill>
                  <a:srgbClr val="FFFFFF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next marginal million dollars</a:t>
            </a:r>
            <a:r>
              <a:rPr lang="en-US" sz="1300" kern="0" spc="-26" dirty="0">
                <a:solidFill>
                  <a:srgbClr val="FFFFFF"/>
                </a:solidFill>
                <a:latin typeface="+mj-lt"/>
                <a:ea typeface="Fira Sans" pitchFamily="34" charset="-122"/>
                <a:cs typeface="Fira Sans" pitchFamily="34" charset="-120"/>
              </a:rPr>
              <a:t>?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7122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Data &amp; Methodology</a:t>
            </a:r>
            <a:endParaRPr lang="en-US" sz="3250" b="1" dirty="0">
              <a:latin typeface="+mj-lt"/>
            </a:endParaRPr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752111"/>
              </p:ext>
            </p:extLst>
          </p:nvPr>
        </p:nvGraphicFramePr>
        <p:xfrm>
          <a:off x="661475" y="1314549"/>
          <a:ext cx="10868745" cy="3368294"/>
        </p:xfrm>
        <a:graphic>
          <a:graphicData uri="http://schemas.openxmlformats.org/drawingml/2006/table">
            <a:tbl>
              <a:tblPr/>
              <a:tblGrid>
                <a:gridCol w="3622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29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Domain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Source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Coverage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Brand valuation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Houlihan Lokey IPL Brand Valuation Studies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2024, 2025, 2026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On-field performance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IPL official season points tables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2008–2023, 136 team-seasons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Titles &amp; playoffs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IPL official results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Through 2026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Market size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Census of India 2011; metro GDP estimates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2011 / 2022-23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Digital engagement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Instagram + X follower counts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2025-26 snapshot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Auction spend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IPL auction purse utilisation reports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+mj-lt"/>
                          <a:ea typeface="Fira Sans" pitchFamily="34" charset="-122"/>
                          <a:cs typeface="Fira Sans" pitchFamily="34" charset="-120"/>
                        </a:rPr>
                        <a:t>2022-2026</a:t>
                      </a:r>
                      <a:endParaRPr lang="en-US" sz="1300" dirty="0">
                        <a:latin typeface="+mj-lt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 1"/>
          <p:cNvSpPr/>
          <p:nvPr/>
        </p:nvSpPr>
        <p:spPr>
          <a:xfrm>
            <a:off x="661475" y="4881662"/>
            <a:ext cx="10868745" cy="1509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Statistical toolkit: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 Descriptive statistics → Pearson &amp; Spearman correlation → Partial correlation → Conditional probability → Normality testing (Shapiro-Wilk) → Confidence interval estimation → Hypothesis testing (two-sample t-test, one-proportion z-test, one-way ANOVA) → Simple, multiple, and hierarchical regression.</a:t>
            </a:r>
            <a:endParaRPr lang="en-US" sz="1300" dirty="0">
              <a:latin typeface="+mj-lt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Implementation: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 Every statistic is a </a:t>
            </a: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live Excel formula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 referencing a single source-of-truth data sheet. </a:t>
            </a:r>
            <a:r>
              <a:rPr lang="en-US" sz="1300" i="1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Supporting deliverable: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635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24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Sources Cited</a:t>
            </a:r>
            <a:endParaRPr lang="en-US" sz="240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33647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Valuation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623219"/>
            <a:ext cx="5283068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Houlihan Lokey,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IPL Brand Valuation Study 2024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https://www.hl.com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Houlihan Lokey,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IPL Brand Valuation Study 2025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(8 July 2025).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https://www.hl.com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Houlihan Lokey,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IPL Brand Valuation Study 2026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https://www.hl.com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61475" y="2302173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Performance &amp; League Data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588915"/>
            <a:ext cx="5283068" cy="5859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Indian Premier League,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Official Season Points Tables 2008–2023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https://www.iplt20.com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ESPNcricinfo Statsguru,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IPL Team Records and Statistics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https://stats.espncricinfo.com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Wikipedia,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List of Indian Premier League Records and Statistics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1475" y="3267869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3554611"/>
            <a:ext cx="5283068" cy="9332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Indian Premier League,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IPL 2025 Mega Auction — Team-wise Purse Utilisation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https://www.iplt20.com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Wisden Cricket,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IPL Purse Remaining for Each Team After Auction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https://wisden.com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Hindustan Times,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IPL Auction — Final Updated Squads of All 10 Franchises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https://www.hindustantimes.com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3502" y="1336477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Sponsorship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53502" y="1623219"/>
            <a:ext cx="5283068" cy="11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Ramesh, A.,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Tata Group to continue as IPL title sponsor until 2028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India Today (20 Jan 2024).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https://www.indiatoday.in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TATA Group retains IPL title sponsorship rights for 2024–28 cycle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Siasat (20 Jan 2024).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https://www.siasat.com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Forbes India,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Through the IPL, brands have started to speak to the many Indias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(12 Apr 2024).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https://www.forbesindia.com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3502" y="2823071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kern="0" spc="-12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Market Size &amp; Digital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53502" y="3109813"/>
            <a:ext cx="5283068" cy="11394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Government of India, </a:t>
            </a: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Census of India 2011 — Urban Agglomeration Population</a:t>
            </a: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https://censusindia.gov.in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Metropolitan GDP estimates 2022–23 (institutional approximations; no official Indian city-level GDP series exists).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Instagram official franchise accounts, follower counts 2025–26.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https://www.instagram.com</a:t>
            </a:r>
            <a:endParaRPr lang="en-US" sz="950" dirty="0"/>
          </a:p>
          <a:p>
            <a:pPr marL="193040" indent="-19304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950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X (formerly Twitter) official franchise accounts, follower counts 2025–26. </a:t>
            </a:r>
            <a:r>
              <a:rPr lang="en-US" sz="950" b="1" u="sng" kern="0" spc="-20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https://x.com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3502" y="4342209"/>
            <a:ext cx="5283068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656519" y="5575201"/>
            <a:ext cx="4756031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3581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24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The Master Dataset</a:t>
            </a:r>
            <a:endParaRPr lang="en-US" sz="240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138436"/>
            <a:ext cx="10868745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12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All 10 franchises, all variables</a:t>
            </a:r>
            <a:endParaRPr lang="en-US" sz="1200" b="1" dirty="0">
              <a:latin typeface="+mj-lt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471712"/>
          <a:ext cx="10868742" cy="4207962"/>
        </p:xfrm>
        <a:graphic>
          <a:graphicData uri="http://schemas.openxmlformats.org/drawingml/2006/table">
            <a:tbl>
              <a:tblPr/>
              <a:tblGrid>
                <a:gridCol w="1207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076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0102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Team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2025 BV ($M)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2026 BV ($M)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Titles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Playoffs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Win% (08–23)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GDP ($B)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Social (M)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Auction (₹Cr)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Royal Challengers Bengaluru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269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312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48.25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112.42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31.8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119.70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Mumbai Indians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242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264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55.70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162.44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28.2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119.80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Chennai Super Kings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235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244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57.00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91.53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34.3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119.95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Kolkata Knight Riders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227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245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8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49.12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75.21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13.2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119.95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8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Sunrisers Hyderabad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154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168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8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47.44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80.06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9.1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119.85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Delhi Capitals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152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156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6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46.49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186.14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7.3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119.80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Rajasthan Royals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146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161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7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49.50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18.13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9.4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119.90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Gujarat Titans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142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157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71.43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67.28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5.7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119.85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41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Punjab Kings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141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158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46.49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11.70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8.3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119.50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65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Lucknow Super Giants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122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122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60.71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10.92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4.4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kern="0" spc="-20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119.90</a:t>
                      </a:r>
                      <a:endParaRPr lang="en-US" sz="9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24044" marR="124044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661475" y="5797054"/>
            <a:ext cx="10868745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i="1" kern="0" spc="-20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 Houlihan Lokey IPL Brand Valuation Studies 2025 &amp; 2026 (hl.com); IPL official season results 2008–2026 (iplt20.com); Census of India 2011 (censusindia.gov.in); Instagram/X franchise accounts 2025–26; IPL auction purse reports 2025.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4257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The Hook: Brand Value vs. Titles Won</a:t>
            </a:r>
            <a:endParaRPr lang="en-US" sz="3250" b="1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515070"/>
            <a:ext cx="6359862" cy="417909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880199"/>
            <a:ext cx="696944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 Houlihan Lokey IPL Brand Valuation Study 2025; IPL official results through 2026.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31100" y="1494334"/>
            <a:ext cx="41053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The Pattern</a:t>
            </a:r>
            <a:endParaRPr lang="en-US" sz="1600" dirty="0">
              <a:latin typeface="+mj-lt"/>
            </a:endParaRPr>
          </a:p>
        </p:txBody>
      </p:sp>
      <p:sp>
        <p:nvSpPr>
          <p:cNvPr id="6" name="Text 3"/>
          <p:cNvSpPr/>
          <p:nvPr/>
        </p:nvSpPr>
        <p:spPr>
          <a:xfrm>
            <a:off x="7431100" y="1918097"/>
            <a:ext cx="4714955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More titles, more value. </a:t>
            </a: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r = 0.81.</a:t>
            </a:r>
            <a:endParaRPr lang="en-US" sz="1300" dirty="0">
              <a:latin typeface="+mj-lt"/>
            </a:endParaRPr>
          </a:p>
        </p:txBody>
      </p:sp>
      <p:sp>
        <p:nvSpPr>
          <p:cNvPr id="7" name="Text 4"/>
          <p:cNvSpPr/>
          <p:nvPr/>
        </p:nvSpPr>
        <p:spPr>
          <a:xfrm>
            <a:off x="7431100" y="2348012"/>
            <a:ext cx="410537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The Anomaly</a:t>
            </a:r>
            <a:endParaRPr lang="en-US" sz="1600" dirty="0">
              <a:latin typeface="+mj-lt"/>
            </a:endParaRPr>
          </a:p>
        </p:txBody>
      </p:sp>
      <p:sp>
        <p:nvSpPr>
          <p:cNvPr id="8" name="Text 5"/>
          <p:cNvSpPr/>
          <p:nvPr/>
        </p:nvSpPr>
        <p:spPr>
          <a:xfrm>
            <a:off x="7431100" y="2771775"/>
            <a:ext cx="4105371" cy="1207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150"/>
              </a:spcAft>
              <a:buNone/>
            </a:pPr>
            <a:r>
              <a:rPr lang="en-US" sz="1300" kern="0" spc="-26" dirty="0">
                <a:solidFill>
                  <a:srgbClr val="FA95AE"/>
                </a:solidFill>
                <a:latin typeface="+mj-lt"/>
                <a:ea typeface="Fira Sans" pitchFamily="34" charset="-122"/>
                <a:cs typeface="Fira Sans" pitchFamily="34" charset="-120"/>
              </a:rPr>
              <a:t>RCB is the single most valuable brand at </a:t>
            </a:r>
            <a:r>
              <a:rPr lang="en-US" sz="1300" b="1" kern="0" spc="-26" dirty="0">
                <a:solidFill>
                  <a:srgbClr val="FA95A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$269M</a:t>
            </a:r>
            <a:r>
              <a:rPr lang="en-US" sz="1300" kern="0" spc="-26" dirty="0">
                <a:solidFill>
                  <a:srgbClr val="FA95AE"/>
                </a:solidFill>
                <a:latin typeface="+mj-lt"/>
                <a:ea typeface="Fira Sans" pitchFamily="34" charset="-122"/>
                <a:cs typeface="Fira Sans" pitchFamily="34" charset="-120"/>
              </a:rPr>
              <a:t> - with only </a:t>
            </a:r>
            <a:r>
              <a:rPr lang="en-US" sz="1300" b="1" kern="0" spc="-26" dirty="0">
                <a:solidFill>
                  <a:srgbClr val="FA95A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2 titles</a:t>
            </a:r>
            <a:r>
              <a:rPr lang="en-US" sz="1300" kern="0" spc="-26" dirty="0">
                <a:solidFill>
                  <a:srgbClr val="FA95AE"/>
                </a:solidFill>
                <a:latin typeface="+mj-lt"/>
                <a:ea typeface="Fira Sans" pitchFamily="34" charset="-122"/>
                <a:cs typeface="Fira Sans" pitchFamily="34" charset="-120"/>
              </a:rPr>
              <a:t>.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 CSK and MI, with </a:t>
            </a: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5 titles each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, sit </a:t>
            </a:r>
            <a:r>
              <a:rPr lang="en-US" sz="1300" i="1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below</a:t>
            </a: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 it.</a:t>
            </a:r>
            <a:endParaRPr lang="en-US" sz="1300" dirty="0">
              <a:latin typeface="+mj-lt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If trophies alone explained valuation, RCB should not be there. </a:t>
            </a:r>
            <a:r>
              <a:rPr lang="en-US" sz="1300" b="1" kern="0" spc="-26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Something else is doing the work.</a:t>
            </a:r>
            <a:endParaRPr lang="en-US" sz="1300" dirty="0">
              <a:latin typeface="+mj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210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31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Descriptive Statistics: 2025 Franchise Brand Value (US$M)</a:t>
            </a:r>
            <a:endParaRPr lang="en-US" sz="3050" b="1" dirty="0">
              <a:latin typeface="+mj-lt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032292"/>
              </p:ext>
            </p:extLst>
          </p:nvPr>
        </p:nvGraphicFramePr>
        <p:xfrm>
          <a:off x="661475" y="1452860"/>
          <a:ext cx="4680032" cy="4029568"/>
        </p:xfrm>
        <a:graphic>
          <a:graphicData uri="http://schemas.openxmlformats.org/drawingml/2006/table">
            <a:tbl>
              <a:tblPr/>
              <a:tblGrid>
                <a:gridCol w="2340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Measure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Mean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$183.00M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Median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$153.00M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Standard Deviation (sample)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$53.60M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Variance (sample)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2,872.67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Minimum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$122M :  Lucknow Super Giants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Maximum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$269M : Royal Challengers Bengaluru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10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5663109"/>
            <a:ext cx="468003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i="1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 Houlihan Lokey 2025.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731228" y="1434207"/>
            <a:ext cx="5805243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Read the Gap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731228" y="1828998"/>
            <a:ext cx="580524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Mean ($183M) sits well above median ($153M)  the distribution is </a:t>
            </a:r>
            <a:r>
              <a:rPr lang="en-US" sz="1200" b="1" kern="0" spc="-25" dirty="0">
                <a:solidFill>
                  <a:srgbClr val="E0D6DE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right-skewed</a:t>
            </a:r>
            <a:r>
              <a:rPr lang="en-US" sz="1200" kern="0" spc="-25" dirty="0">
                <a:solidFill>
                  <a:srgbClr val="E0D6DE"/>
                </a:solidFill>
                <a:latin typeface="+mj-lt"/>
                <a:ea typeface="Fira Sans" pitchFamily="34" charset="-122"/>
                <a:cs typeface="Fira Sans" pitchFamily="34" charset="-120"/>
              </a:rPr>
              <a:t>. Four premium brands (RCB, MI, CSK, KKR all above $225M) pull the average up; the remaining six sit between $122M and $154M.</a:t>
            </a:r>
            <a:endParaRPr lang="en-US" sz="1200" dirty="0">
              <a:latin typeface="+mj-lt"/>
            </a:endParaRPr>
          </a:p>
        </p:txBody>
      </p:sp>
      <p:sp>
        <p:nvSpPr>
          <p:cNvPr id="3" name="Shape 4"/>
          <p:cNvSpPr/>
          <p:nvPr/>
        </p:nvSpPr>
        <p:spPr>
          <a:xfrm>
            <a:off x="5731228" y="2732385"/>
            <a:ext cx="5805243" cy="837406"/>
          </a:xfrm>
          <a:prstGeom prst="roundRect">
            <a:avLst>
              <a:gd name="adj" fmla="val 2814"/>
            </a:avLst>
          </a:prstGeom>
          <a:solidFill>
            <a:srgbClr val="7A0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287" y="2954734"/>
            <a:ext cx="196349" cy="1570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41695" y="2905919"/>
            <a:ext cx="5137716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FFFFFF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Investor implication:</a:t>
            </a:r>
            <a:r>
              <a:rPr lang="en-US" sz="1200" kern="0" spc="-25" dirty="0">
                <a:solidFill>
                  <a:srgbClr val="FFFFFF"/>
                </a:solidFill>
                <a:latin typeface="+mj-lt"/>
                <a:ea typeface="Fira Sans" pitchFamily="34" charset="-122"/>
                <a:cs typeface="Fira Sans" pitchFamily="34" charset="-120"/>
              </a:rPr>
              <a:t> The IPL is not ten comparable assets. It is a </a:t>
            </a:r>
            <a:r>
              <a:rPr lang="en-US" sz="1200" b="1" kern="0" spc="-25" dirty="0">
                <a:solidFill>
                  <a:srgbClr val="FFFFFF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two-tier market</a:t>
            </a:r>
            <a:r>
              <a:rPr lang="en-US" sz="1200" kern="0" spc="-25" dirty="0">
                <a:solidFill>
                  <a:srgbClr val="FFFFFF"/>
                </a:solidFill>
                <a:latin typeface="+mj-lt"/>
                <a:ea typeface="Fira Sans" pitchFamily="34" charset="-122"/>
                <a:cs typeface="Fira Sans" pitchFamily="34" charset="-120"/>
              </a:rPr>
              <a:t>, separated by roughly </a:t>
            </a:r>
            <a:r>
              <a:rPr lang="en-US" sz="1200" b="1" kern="0" spc="-25" dirty="0">
                <a:solidFill>
                  <a:srgbClr val="FFFFFF"/>
                </a:solidFill>
                <a:latin typeface="+mj-lt"/>
                <a:ea typeface="Fira Sans Bold" pitchFamily="34" charset="-122"/>
                <a:cs typeface="Fira Sans Bold" pitchFamily="34" charset="-120"/>
              </a:rPr>
              <a:t>$70M</a:t>
            </a:r>
            <a:r>
              <a:rPr lang="en-US" sz="1200" kern="0" spc="-25" dirty="0">
                <a:solidFill>
                  <a:srgbClr val="FFFFFF"/>
                </a:solidFill>
                <a:latin typeface="+mj-lt"/>
                <a:ea typeface="Fira Sans" pitchFamily="34" charset="-122"/>
                <a:cs typeface="Fira Sans" pitchFamily="34" charset="-120"/>
              </a:rPr>
              <a:t>.</a:t>
            </a:r>
            <a:endParaRPr lang="en-US" sz="12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656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Myth 1: "Money Buys Wins"</a:t>
            </a:r>
            <a:endParaRPr lang="en-US" sz="32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159371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Two independent tests. Same verdict.</a:t>
            </a:r>
            <a:endParaRPr lang="en-US" sz="16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83118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Test A  Pearson Correlation: Auction Spend vs. All-Time Win%</a:t>
            </a:r>
            <a:endParaRPr lang="en-US" sz="1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8581261"/>
              </p:ext>
            </p:extLst>
          </p:nvPr>
        </p:nvGraphicFramePr>
        <p:xfrm>
          <a:off x="661475" y="2275681"/>
          <a:ext cx="5232666" cy="1922018"/>
        </p:xfrm>
        <a:graphic>
          <a:graphicData uri="http://schemas.openxmlformats.org/drawingml/2006/table">
            <a:tbl>
              <a:tblPr/>
              <a:tblGrid>
                <a:gridCol w="261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Statistic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Pearson r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0.3512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t-statistic (df = 8)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1.0608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FA95A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0.3197 - NOT SIGNIFICANT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3904" y="1831181"/>
            <a:ext cx="523266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Test B  Conditional Probability: P(Above-median Playoffs | Top-50% Spend)</a:t>
            </a:r>
            <a:endParaRPr lang="en-US" sz="16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3904" y="2534146"/>
          <a:ext cx="5232668" cy="1969146"/>
        </p:xfrm>
        <a:graphic>
          <a:graphicData uri="http://schemas.openxmlformats.org/drawingml/2006/table">
            <a:tbl>
              <a:tblPr/>
              <a:tblGrid>
                <a:gridCol w="13081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81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81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81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008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Top-50% Spend?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Below-median Playoffs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Above-median Playoffs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Total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No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Yes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6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4"/>
          <p:cNvSpPr/>
          <p:nvPr/>
        </p:nvSpPr>
        <p:spPr>
          <a:xfrm>
            <a:off x="6303904" y="4702076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kern="0" spc="-26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P(Playoffs | Top-50% Spend) = 3/6 = </a:t>
            </a:r>
            <a:r>
              <a:rPr lang="en-US" sz="1300" b="1" kern="0" spc="-26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0.50 — a coin flip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1475" y="5301555"/>
            <a:ext cx="10868745" cy="979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salary cap compresses spend into ₹119.50–120.00 Cr. </a:t>
            </a:r>
            <a:r>
              <a:rPr lang="en-US" sz="1300" b="1" kern="0" spc="-26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Nine of ten franchises spend within ₹0.50 Cr of each other.</a:t>
            </a: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Under a hard cap, out-spending rivals is structurally impossible.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i="1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 IPL 2025 mega-auction purse reports (iplt20.com); IPL points tables 2008–2023. 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6852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29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Correlation Matrix: Pearson Correlations Across All Variables</a:t>
            </a:r>
            <a:endParaRPr lang="en-US" sz="2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259880"/>
          <a:ext cx="10868744" cy="3467807"/>
        </p:xfrm>
        <a:graphic>
          <a:graphicData uri="http://schemas.openxmlformats.org/drawingml/2006/table">
            <a:tbl>
              <a:tblPr/>
              <a:tblGrid>
                <a:gridCol w="13585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5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85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85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85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585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585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2025 BV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Titles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Win%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GDP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Social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Auction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Population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2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2025 Brand Value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0.81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−0.17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0.50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0.91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0.28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Titles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0.81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0.13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0.40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0.83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0.36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0.16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Win% (08–23)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−0.17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0.13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−0.08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0.35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−0.16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City GDP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0.50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0.40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0.43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0.95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0.95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Social Followers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FFFFFF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0.91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0.83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−0.08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0.43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0.04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0.21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Auction Spend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0.36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0.35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0.06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0.04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0.02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Population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0.28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0.16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−0.16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0.95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0.21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0.02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4891187"/>
            <a:ext cx="3533587" cy="1062930"/>
          </a:xfrm>
          <a:prstGeom prst="roundRect">
            <a:avLst>
              <a:gd name="adj" fmla="val 21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10299" y="5040015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 = 0.91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10299" y="5352852"/>
            <a:ext cx="3235939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Social followers - strongest correlate of brand value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329004" y="4891187"/>
            <a:ext cx="3533587" cy="1062930"/>
          </a:xfrm>
          <a:prstGeom prst="roundRect">
            <a:avLst>
              <a:gd name="adj" fmla="val 21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477829" y="5040015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 = −0.17</a:t>
            </a:r>
            <a:endParaRPr lang="en-US" sz="1450" dirty="0"/>
          </a:p>
        </p:txBody>
      </p:sp>
      <p:sp>
        <p:nvSpPr>
          <p:cNvPr id="3" name="Text 6"/>
          <p:cNvSpPr/>
          <p:nvPr/>
        </p:nvSpPr>
        <p:spPr>
          <a:xfrm>
            <a:off x="4477829" y="5352852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Win% correlates </a:t>
            </a:r>
            <a:r>
              <a:rPr lang="en-US" sz="1150" i="1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negatively</a:t>
            </a: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with brand value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996534" y="4891187"/>
            <a:ext cx="3533587" cy="1062930"/>
          </a:xfrm>
          <a:prstGeom prst="roundRect">
            <a:avLst>
              <a:gd name="adj" fmla="val 2101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145358" y="5040015"/>
            <a:ext cx="3235939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 = 0.08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45358" y="5352852"/>
            <a:ext cx="323593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Auction spend correlates with essentially nothing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61475" y="6104830"/>
            <a:ext cx="11478330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80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kern="0" spc="-33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Rank &amp; Partial Correlation: Two Robustness Checks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3808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Spearman Rank Correlation - Win% Rank vs. Brand Value Rank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065823"/>
              </p:ext>
            </p:extLst>
          </p:nvPr>
        </p:nvGraphicFramePr>
        <p:xfrm>
          <a:off x="661475" y="1982589"/>
          <a:ext cx="5232666" cy="1922018"/>
        </p:xfrm>
        <a:graphic>
          <a:graphicData uri="http://schemas.openxmlformats.org/drawingml/2006/table">
            <a:tbl>
              <a:tblPr/>
              <a:tblGrid>
                <a:gridCol w="261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Statistic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Spearman ρ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−0.1094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t-statistic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−0.3114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0.7635 - NOT SIGNIFICANT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103390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 franchise's rank by win percentage tells you </a:t>
            </a:r>
            <a:r>
              <a:rPr lang="en-US" sz="1300" b="1" kern="0" spc="-26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nothing</a:t>
            </a: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about its rank by brand value.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303904" y="1538089"/>
            <a:ext cx="5232666" cy="5296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Partial Correlation — Titles </a:t>
            </a:r>
            <a:r>
              <a:rPr lang="en-US" sz="1600" kern="0" spc="-16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↔</a:t>
            </a:r>
            <a:r>
              <a:rPr lang="en-US" sz="1600" kern="0" spc="-16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Brand Value, Controlling for City GDP</a:t>
            </a:r>
            <a:endParaRPr lang="en-US" sz="16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203989"/>
              </p:ext>
            </p:extLst>
          </p:nvPr>
        </p:nvGraphicFramePr>
        <p:xfrm>
          <a:off x="6303904" y="2253754"/>
          <a:ext cx="5232666" cy="2404110"/>
        </p:xfrm>
        <a:graphic>
          <a:graphicData uri="http://schemas.openxmlformats.org/drawingml/2006/table">
            <a:tbl>
              <a:tblPr/>
              <a:tblGrid>
                <a:gridCol w="2616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Component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r(XY) - Titles  Brand Value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0.8068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r(XZ) - Titles  GDP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0.3983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r(YZ) - Brand Value  GDP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0.5038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Partial r (Titles  BV | GDP)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FA95A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0.7650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303904" y="4856659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Titles survive the market-size control (0.807 → 0.765). </a:t>
            </a:r>
            <a:r>
              <a:rPr lang="en-US" sz="1300" b="1" kern="0" spc="-26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 market rewards trophies - visible, celebrated moments - not the grinding consistency of a high win rate.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1475" y="5985371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687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29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Is the League Competitively Balanced?</a:t>
            </a:r>
            <a:endParaRPr lang="en-US" sz="290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195586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15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Distribution of Net Run Rate, 128 team-seasons (2009–2023)</a:t>
            </a:r>
            <a:endParaRPr lang="en-US" sz="1450" b="1" dirty="0">
              <a:latin typeface="+mj-lt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79687"/>
            <a:ext cx="4727457" cy="3405188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440304"/>
              </p:ext>
            </p:extLst>
          </p:nvPr>
        </p:nvGraphicFramePr>
        <p:xfrm>
          <a:off x="6283763" y="1779687"/>
          <a:ext cx="5252806" cy="2835601"/>
        </p:xfrm>
        <a:graphic>
          <a:graphicData uri="http://schemas.openxmlformats.org/drawingml/2006/table">
            <a:tbl>
              <a:tblPr/>
              <a:tblGrid>
                <a:gridCol w="2626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Statistic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Mean NRR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−0.0002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Standard Deviation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0.4908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Skewness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−0.1975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Excess Kurtosis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0.2432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Shapiro-Wilk W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0.9908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0.5152 - FAIL TO REJECT H₀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283763" y="4778772"/>
            <a:ext cx="5252807" cy="678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NRR is consistent with a normal distribution. The IPL is a </a:t>
            </a:r>
            <a:r>
              <a:rPr lang="en-US" sz="1150" b="1" kern="0" spc="-23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genuinely balanced competition</a:t>
            </a:r>
            <a:r>
              <a:rPr lang="en-US" sz="1150" b="1" kern="0" spc="-23" dirty="0">
                <a:solidFill>
                  <a:srgbClr val="E0D6DE"/>
                </a:solidFill>
                <a:latin typeface="Fira Sans" pitchFamily="34" charset="0"/>
                <a:ea typeface="Fira Sans Bold" pitchFamily="34" charset="-122"/>
                <a:cs typeface="Fira Sans Bold" pitchFamily="34" charset="-120"/>
              </a:rPr>
              <a:t>, </a:t>
            </a: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no structural dynasty effect. If on-field outcomes are near-random, </a:t>
            </a:r>
            <a:r>
              <a:rPr lang="en-US" sz="1150" b="1" kern="0" spc="-23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commercial differentiation must come from off-field activity.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0147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31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Confidence Interval Estimation</a:t>
            </a:r>
            <a:endParaRPr lang="en-US" sz="30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90712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0" spc="-15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95% CI for Mean Franchise Brand Value</a:t>
            </a:r>
            <a:endParaRPr lang="en-US" sz="1500" b="1" dirty="0">
              <a:latin typeface="+mj-lt"/>
            </a:endParaRPr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727994"/>
          <a:ext cx="4680032" cy="3784405"/>
        </p:xfrm>
        <a:graphic>
          <a:graphicData uri="http://schemas.openxmlformats.org/drawingml/2006/table">
            <a:tbl>
              <a:tblPr/>
              <a:tblGrid>
                <a:gridCol w="23400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0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Component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Sample size (n)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10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Sample mean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$183.00M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Sample standard deviation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$53.60M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Standard error of the mean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$16.95M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Margin of error @ 95% (t, df = 9)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$38.34M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95% CI lower bound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$144.66M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95% CI upper bound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$221.34M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693073"/>
            <a:ext cx="468003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i="1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 Houlihan Lokey 2025. Calculated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966866" y="1862336"/>
            <a:ext cx="556960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"If a new franchise is introduced in 2027, we can state with 95% confidence that its baseline brand value will fall between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$145 Million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$221 Million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, setting the floor for the BCCI's auction reserve price."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31228" y="1727994"/>
            <a:ext cx="19050" cy="1004193"/>
          </a:xfrm>
          <a:prstGeom prst="roundRect">
            <a:avLst>
              <a:gd name="adj" fmla="val 49999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731228" y="2900065"/>
            <a:ext cx="5805243" cy="1082576"/>
          </a:xfrm>
          <a:prstGeom prst="roundRect">
            <a:avLst>
              <a:gd name="adj" fmla="val 2177"/>
            </a:avLst>
          </a:prstGeom>
          <a:solidFill>
            <a:srgbClr val="7A0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287" y="3122414"/>
            <a:ext cx="196349" cy="15706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41695" y="3073598"/>
            <a:ext cx="5137716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Honest caveat:</a:t>
            </a:r>
            <a:r>
              <a:rPr lang="en-US" sz="1200" kern="0" spc="-25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This interval describes ten </a:t>
            </a:r>
            <a:r>
              <a:rPr lang="en-US" sz="1200" b="1" kern="0" spc="-25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established</a:t>
            </a:r>
            <a:r>
              <a:rPr lang="en-US" sz="1200" kern="0" spc="-25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franchises with existing fanbases and title histories. A 2027 entrant's realistic starting value sits near the </a:t>
            </a:r>
            <a:r>
              <a:rPr lang="en-US" sz="1200" b="1" kern="0" spc="-25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low end</a:t>
            </a:r>
            <a:r>
              <a:rPr lang="en-US" sz="1200" kern="0" spc="-25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of this range or below.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528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0" spc="-31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Hypothesis Test 1: Two-Sample t-Test</a:t>
            </a:r>
            <a:endParaRPr lang="en-US" sz="30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85850"/>
            <a:ext cx="10868745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Legacy vs. Expansion Franchises - H₀: No difference in brand value based on franchise age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8562311"/>
              </p:ext>
            </p:extLst>
          </p:nvPr>
        </p:nvGraphicFramePr>
        <p:xfrm>
          <a:off x="661475" y="1723132"/>
          <a:ext cx="5242686" cy="1813574"/>
        </p:xfrm>
        <a:graphic>
          <a:graphicData uri="http://schemas.openxmlformats.org/drawingml/2006/table">
            <a:tbl>
              <a:tblPr/>
              <a:tblGrid>
                <a:gridCol w="1747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7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75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Group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Mean Brand Value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Legacy (founded 2008)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8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$195.75M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1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Expansion (GT, LSG - 2022)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$132.00M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399233"/>
              </p:ext>
            </p:extLst>
          </p:nvPr>
        </p:nvGraphicFramePr>
        <p:xfrm>
          <a:off x="661475" y="3717330"/>
          <a:ext cx="5242686" cy="2011609"/>
        </p:xfrm>
        <a:graphic>
          <a:graphicData uri="http://schemas.openxmlformats.org/drawingml/2006/table">
            <a:tbl>
              <a:tblPr/>
              <a:tblGrid>
                <a:gridCol w="26213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13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Test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83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Welch's two-sample t-test, two-tailed, unequal variance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—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FA95A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0.0181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Decision at α = 0.05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REJECT H₀</a:t>
                      </a:r>
                      <a:endParaRPr lang="en-US" sz="12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57122" marR="15712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293883" y="1704479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6293883" y="2099270"/>
            <a:ext cx="5242687" cy="1360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050"/>
              </a:spcAft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Legacy franchises command a statistically significant premium of roughly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$64M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Brand equity is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time-accumulated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A franchise cannot buy eighteen years of fan memory. Expansion teams are not underpriced legacy teams - they are a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different asset class on a different maturity curve.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293883" y="3627338"/>
            <a:ext cx="5242687" cy="837406"/>
          </a:xfrm>
          <a:prstGeom prst="roundRect">
            <a:avLst>
              <a:gd name="adj" fmla="val 2814"/>
            </a:avLst>
          </a:prstGeom>
          <a:solidFill>
            <a:srgbClr val="7A0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43" y="3849688"/>
            <a:ext cx="196349" cy="1570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804351" y="3800872"/>
            <a:ext cx="457516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kern="0" spc="-25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Caveat:</a:t>
            </a:r>
            <a:r>
              <a:rPr lang="en-US" sz="1200" kern="0" spc="-25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Only n = 2 expansion franchises. Treat the magnitude cautiously even though the test clears significance.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61475" y="6077446"/>
            <a:ext cx="11478330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i="1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Source: Houlihan Lokey 2025; IPL franchise founding records. Computed 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89980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29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Hypothesis Test 2: One-Proportion z-Test</a:t>
            </a:r>
            <a:endParaRPr lang="en-US" sz="290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308695"/>
            <a:ext cx="1086874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Is RCB Actually an Underachiever? - H₀: RCB's all-time win percentage equals 50%</a:t>
            </a:r>
            <a:endParaRPr lang="en-US" sz="14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408890"/>
              </p:ext>
            </p:extLst>
          </p:nvPr>
        </p:nvGraphicFramePr>
        <p:xfrm>
          <a:off x="661475" y="1892796"/>
          <a:ext cx="5252806" cy="2835601"/>
        </p:xfrm>
        <a:graphic>
          <a:graphicData uri="http://schemas.openxmlformats.org/drawingml/2006/table">
            <a:tbl>
              <a:tblPr/>
              <a:tblGrid>
                <a:gridCol w="2626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64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Component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Value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RCB win rate (2008–2023)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48.25%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Matches played (n)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228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Hypothesised proportion (p₀)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0.50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Standard error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0.0331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599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z-statistic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− 0.5285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8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 (two-tailed)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kern="0" spc="-23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0.5972 - FAIL TO REJECT H₀</a:t>
                      </a:r>
                      <a:endParaRPr lang="en-US" sz="115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8852" marR="14885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4891881"/>
            <a:ext cx="525280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RCB's long-run win rate is </a:t>
            </a:r>
            <a:r>
              <a:rPr lang="en-US" sz="1150" b="1" kern="0" spc="-23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statistically indistinguishable from a coin flip</a:t>
            </a: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Across 228 matches, the "RCB always chokes" narrative is </a:t>
            </a:r>
            <a:r>
              <a:rPr lang="en-US" sz="1150" b="1" kern="0" spc="-23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not supported by evidence</a:t>
            </a:r>
            <a:r>
              <a:rPr lang="en-US" sz="1150" kern="0" spc="-23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6176610" y="1742083"/>
            <a:ext cx="5467114" cy="3722787"/>
          </a:xfrm>
          <a:prstGeom prst="roundRect">
            <a:avLst>
              <a:gd name="adj" fmla="val 600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325434" y="1876028"/>
            <a:ext cx="5169465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15" dirty="0">
                <a:solidFill>
                  <a:srgbClr val="000000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Commercial Punchline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25434" y="2242443"/>
            <a:ext cx="5169465" cy="1025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spcAft>
                <a:spcPts val="900"/>
              </a:spcAft>
              <a:buNone/>
            </a:pPr>
            <a:r>
              <a:rPr lang="en-US" sz="1150" kern="0" spc="-23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RCB is the </a:t>
            </a:r>
            <a:r>
              <a:rPr lang="en-US" sz="1150" b="1" kern="0" spc="-23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most valuable brand in the league</a:t>
            </a:r>
            <a:r>
              <a:rPr lang="en-US" sz="1150" kern="0" spc="-23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($269M → $312M in 2026) while being a statistically </a:t>
            </a:r>
            <a:r>
              <a:rPr lang="en-US" sz="1150" b="1" kern="0" spc="-23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average</a:t>
            </a:r>
            <a:r>
              <a:rPr lang="en-US" sz="1150" kern="0" spc="-23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team with just 2 titles - and it holds the </a:t>
            </a:r>
            <a:r>
              <a:rPr lang="en-US" sz="1150" b="1" kern="0" spc="-23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largest social following at 31.8M</a:t>
            </a:r>
            <a:r>
              <a:rPr lang="en-US" sz="1150" kern="0" spc="-23" dirty="0">
                <a:solidFill>
                  <a:srgbClr val="000000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150" dirty="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150" b="1" kern="0" spc="-23" dirty="0">
                <a:solidFill>
                  <a:srgbClr val="000000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Perception and engagement, not the win column, are carrying that valuation.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056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28" dirty="0">
                <a:solidFill>
                  <a:srgbClr val="FA95AF"/>
                </a:solidFill>
                <a:latin typeface="+mj-lt"/>
                <a:ea typeface="Anton" pitchFamily="34" charset="-122"/>
                <a:cs typeface="Times New Roman" panose="02020603050405020304" pitchFamily="18" charset="0"/>
              </a:rPr>
              <a:t>Hypothesis Test 3: One-Way ANOVA</a:t>
            </a:r>
            <a:endParaRPr lang="en-US" sz="2750" b="1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317526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Does Auction Spend Differ Across Title Tiers? — H₀: Mean 2025 auction spend is equal across Zero / Single / Multiple-title franchises</a:t>
            </a:r>
            <a:endParaRPr lang="en-US" sz="13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850628"/>
          <a:ext cx="5262927" cy="1475146"/>
        </p:xfrm>
        <a:graphic>
          <a:graphicData uri="http://schemas.openxmlformats.org/drawingml/2006/table">
            <a:tbl>
              <a:tblPr/>
              <a:tblGrid>
                <a:gridCol w="1754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4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4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Tier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Mean Spend (₹Cr)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Zero titles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119.73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Single title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119.87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Multiple titles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119.85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3472855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ANOVA Table</a:t>
            </a:r>
            <a:endParaRPr lang="en-US" sz="13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5474176"/>
              </p:ext>
            </p:extLst>
          </p:nvPr>
        </p:nvGraphicFramePr>
        <p:xfrm>
          <a:off x="661475" y="3826768"/>
          <a:ext cx="5262928" cy="2053577"/>
        </p:xfrm>
        <a:graphic>
          <a:graphicData uri="http://schemas.openxmlformats.org/drawingml/2006/table">
            <a:tbl>
              <a:tblPr/>
              <a:tblGrid>
                <a:gridCol w="1315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57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57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57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Source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SS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df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MS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Between groups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0.0327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0.0163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Within groups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0.1333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7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0.0190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F-statistic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0.8575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-0.4644 - FAIL TO REJECT H₀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73643" y="1835745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Verdict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273643" y="2174776"/>
            <a:ext cx="5262927" cy="1671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Title-winners do </a:t>
            </a:r>
            <a:r>
              <a:rPr lang="en-US" sz="1100" b="1" kern="0" spc="-22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not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out-spend anyone. All three tiers cluster within </a:t>
            </a:r>
            <a:r>
              <a:rPr lang="en-US" sz="1100" b="1" kern="0" spc="-22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₹0.14 Cr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of each other.</a:t>
            </a:r>
            <a:endParaRPr lang="en-US" sz="1100" dirty="0"/>
          </a:p>
          <a:p>
            <a:pPr marL="0" indent="0" algn="l">
              <a:lnSpc>
                <a:spcPct val="123000"/>
              </a:lnSpc>
              <a:spcAft>
                <a:spcPts val="800"/>
              </a:spcAft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salary cap has produced near-perfect spending parity, and parity in spending means </a:t>
            </a:r>
            <a:r>
              <a:rPr lang="en-US" sz="1100" b="1" kern="0" spc="-22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spending cannot explain differences in outcomes.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100" i="1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Method note: Built transparently from component sums of squares using AVERAGEIF and SUMPRODUCT, p-value via F.DIST.RT. Source: IPL 2025 mega-auction purse utilisation reports (iplt20.com).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641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28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Regression: Simple &amp; Multiple Models</a:t>
            </a:r>
            <a:endParaRPr lang="en-US" sz="27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78607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Times New Roman" panose="02020603050405020304" pitchFamily="18" charset="0"/>
              </a:rPr>
              <a:t>Model 1 : Brand Value = β₀ + β₁ (Titles)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110295"/>
              </p:ext>
            </p:extLst>
          </p:nvPr>
        </p:nvGraphicFramePr>
        <p:xfrm>
          <a:off x="661475" y="1477367"/>
          <a:ext cx="10868745" cy="1104772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Terme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Coefficient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Std. Error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t-stat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Intercept (β₀)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142.714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14.885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9.588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&lt; 0.001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Titles (β₁)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22.381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5.794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3.863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0.0048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2729210"/>
            <a:ext cx="1086874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kern="0" spc="-22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R² = 0.6510 · Adjusted R² = 0.6074 · F = 14.92 · df = 8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Each IPL title is worth </a:t>
            </a:r>
            <a:r>
              <a:rPr lang="en-US" sz="1100" b="1" kern="0" spc="-22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+$22.38M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 brand value. Titles alone explain </a:t>
            </a:r>
            <a:r>
              <a:rPr lang="en-US" sz="1100" b="1" kern="0" spc="-22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65%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of variance. A zero-title franchise still carries a </a:t>
            </a:r>
            <a:r>
              <a:rPr lang="en-US" sz="1100" b="1" kern="0" spc="-22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$143M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baseline - the value of simply holding an IPL slot.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1475" y="3324523"/>
            <a:ext cx="10868745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Model 2 — Brand Value = β₀ + β₁ (Win%) + β₂ (Social) + β₃( Population)</a:t>
            </a:r>
            <a:endParaRPr lang="en-US" sz="135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826443"/>
              </p:ext>
            </p:extLst>
          </p:nvPr>
        </p:nvGraphicFramePr>
        <p:xfrm>
          <a:off x="661475" y="3723283"/>
          <a:ext cx="10868745" cy="1845520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Term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Coefficient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Std. Error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Significant?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Intercept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146.347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62.418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0.0575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charset="0"/>
                          <a:cs typeface="Fira Sans" charset="0"/>
                        </a:rPr>
                        <a:t> </a:t>
                      </a:r>
                      <a:r>
                        <a:rPr lang="en-US" sz="1100" kern="0" spc="-25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charset="0"/>
                          <a:cs typeface="Fira Sans" charset="0"/>
                        </a:rPr>
                        <a:t>-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Win %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−0.593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1.083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0.6037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No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Social Followers (M)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4.117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0.765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0.0017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Yes ✓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1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Population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0.00000088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0.0000019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0.6613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kern="0" spc="-22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No</a:t>
                      </a:r>
                      <a:endParaRPr lang="en-US" sz="11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40582" marR="140582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61475" y="5715893"/>
            <a:ext cx="10868745" cy="550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1050"/>
              </a:spcAft>
              <a:buNone/>
            </a:pPr>
            <a:r>
              <a:rPr lang="en-US" sz="1100" b="1" kern="0" spc="-22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R² = 0.8446 · Adjusted R² = 0.7669 · F = 10.87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 With all three competing, only social media is significant. Each additional million followers is associated with </a:t>
            </a:r>
            <a:r>
              <a:rPr lang="en-US" sz="1100" b="1" kern="0" spc="-22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+$4.12M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in brand value.</a:t>
            </a:r>
            <a:endParaRPr lang="en-US" sz="1100" dirty="0"/>
          </a:p>
          <a:p>
            <a:pPr marL="0" indent="0" algn="l">
              <a:lnSpc>
                <a:spcPct val="123000"/>
              </a:lnSpc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0413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kern="0" spc="-26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Hierarchical Regression: Building the Model in Three Blocks</a:t>
            </a:r>
            <a:endParaRPr lang="en-US" sz="2600" b="1" dirty="0">
              <a:latin typeface="+mj-lt"/>
            </a:endParaRPr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853803"/>
              </p:ext>
            </p:extLst>
          </p:nvPr>
        </p:nvGraphicFramePr>
        <p:xfrm>
          <a:off x="661475" y="1385491"/>
          <a:ext cx="10868745" cy="1339818"/>
        </p:xfrm>
        <a:graphic>
          <a:graphicData uri="http://schemas.openxmlformats.org/drawingml/2006/table">
            <a:tbl>
              <a:tblPr/>
              <a:tblGrid>
                <a:gridCol w="2173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737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3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Block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Variables Entered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R²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ΔR²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What It Tells Us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Block 1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City GDP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0.2538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charset="0"/>
                          <a:cs typeface="Fira Sans" charset="0"/>
                        </a:rPr>
                        <a:t>-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Market size alone explains 25%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Block 2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+ Win %, Titles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0.7477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+0.4939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On-field adds 49 points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Block 3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+ Social Followers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0.8660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FA95A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+0.1183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Digital adds 12 more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61475" y="2896791"/>
            <a:ext cx="10868745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Final Block 3 Coefficients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3262213"/>
          <a:ext cx="10868744" cy="2012902"/>
        </p:xfrm>
        <a:graphic>
          <a:graphicData uri="http://schemas.openxmlformats.org/drawingml/2006/table">
            <a:tbl>
              <a:tblPr/>
              <a:tblGrid>
                <a:gridCol w="2717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71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3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Term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Coefficient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Std. Error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p-value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Intercept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164.148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68.097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0.0608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City GDP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0.094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0.164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0.5901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Win %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−0.884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1.180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0.4875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54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Titles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6.444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8.780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0.4959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Social Followers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3.069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1.461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0.0896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61475" y="5406926"/>
            <a:ext cx="10868745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spcAft>
                <a:spcPts val="900"/>
              </a:spcAft>
              <a:buNone/>
            </a:pPr>
            <a:r>
              <a:rPr lang="en-US" sz="1000" b="1" kern="0" spc="-21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Final model: R² = 0.8660 · Adjusted R² = 0.7588 · F = 8.08</a:t>
            </a:r>
            <a:r>
              <a:rPr lang="en-US" sz="1000" kern="0" spc="-2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-Social media adds </a:t>
            </a:r>
            <a:r>
              <a:rPr lang="en-US" sz="1000" b="1" kern="0" spc="-21" dirty="0">
                <a:solidFill>
                  <a:srgbClr val="FA95A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ΔR² = 0.118 even after</a:t>
            </a:r>
            <a:r>
              <a:rPr lang="en-US" sz="1000" kern="0" spc="-2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market size and on-field performance are already in the model. Digital engagement explains brand value </a:t>
            </a:r>
            <a:r>
              <a:rPr lang="en-US" sz="1000" b="1" kern="0" spc="-21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independently</a:t>
            </a:r>
            <a:r>
              <a:rPr lang="en-US" sz="1000" kern="0" spc="-2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254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kern="0" spc="-3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Which Lever Carries the Weight?</a:t>
            </a:r>
            <a:endParaRPr lang="en-US" sz="32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085354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Standardised Beta Coefficients - Final Hierarchical Model</a:t>
            </a:r>
            <a:endParaRPr lang="en-US" sz="1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77901"/>
            <a:ext cx="5796214" cy="3978077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2802860"/>
              </p:ext>
            </p:extLst>
          </p:nvPr>
        </p:nvGraphicFramePr>
        <p:xfrm>
          <a:off x="6867452" y="1777901"/>
          <a:ext cx="4669017" cy="2404110"/>
        </p:xfrm>
        <a:graphic>
          <a:graphicData uri="http://schemas.openxmlformats.org/drawingml/2006/table">
            <a:tbl>
              <a:tblPr/>
              <a:tblGrid>
                <a:gridCol w="1556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63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63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Variable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Standardised β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Rank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Social Followers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FA95A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0.661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1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Titles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0.232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2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Win %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- 0.133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3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89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City GDP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0.106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kern="0" spc="-26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4</a:t>
                      </a:r>
                      <a:endParaRPr lang="en-US" sz="13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65391" marR="165391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67452" y="4380805"/>
            <a:ext cx="4669018" cy="1174055"/>
          </a:xfrm>
          <a:prstGeom prst="roundRect">
            <a:avLst>
              <a:gd name="adj" fmla="val 2113"/>
            </a:avLst>
          </a:prstGeom>
          <a:solidFill>
            <a:srgbClr val="7A0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747" y="4626868"/>
            <a:ext cx="206667" cy="16529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04709" y="4570909"/>
            <a:ext cx="396646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Social media followers carries nearly </a:t>
            </a:r>
            <a:r>
              <a:rPr lang="en-US" sz="1300" b="1" kern="0" spc="-26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3× the weight of titles</a:t>
            </a:r>
            <a:r>
              <a:rPr lang="en-US" sz="1300" kern="0" spc="-26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and roughly </a:t>
            </a:r>
            <a:r>
              <a:rPr lang="en-US" sz="1300" b="1" kern="0" spc="-26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6× the weight of market size</a:t>
            </a:r>
            <a:r>
              <a:rPr lang="en-US" sz="1300" kern="0" spc="-26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Win percentage is not merely weak - it is </a:t>
            </a:r>
            <a:r>
              <a:rPr lang="en-US" sz="1300" b="1" kern="0" spc="-26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negative</a:t>
            </a:r>
            <a:r>
              <a:rPr lang="en-US" sz="1300" kern="0" spc="-26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9258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31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Five Statistically-Backed Findings</a:t>
            </a:r>
            <a:endParaRPr lang="en-US" sz="3050" dirty="0">
              <a:latin typeface="+mj-lt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61475" y="1518642"/>
            <a:ext cx="353508" cy="353516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20360" y="1548061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1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164204" y="1572617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Money does not buy wins.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64204" y="1907679"/>
            <a:ext cx="1036601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Auction spend vs. win %: r = 0.35,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 = 0.32 (n.s.)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P(playoffs | top-50% spend) =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0.50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The salary cap has eliminated spending as a lever.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1475" y="2451298"/>
            <a:ext cx="353508" cy="353516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0360" y="2480717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1164204" y="2505273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Winning does not build brand value -trophies do.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64204" y="2840335"/>
            <a:ext cx="10366016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Win % correlates negatively (r = −0.17); Spearman ρ = −0.11 (p = 0.76). But titles: r = 0.81, worth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+$22.4M each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(p = 0.0048), surviving market-size control (partial r = 0.765).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475" y="3629124"/>
            <a:ext cx="353508" cy="353516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0360" y="3658543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164204" y="3683099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Digital engagement is the dominant driver.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64204" y="4018161"/>
            <a:ext cx="1036601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 = 0.91 · only significant predictor in multiple regression (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p = 0.0017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 ·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ΔR² = 0.118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after performance and market size · largest standardised 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β = 0.661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61475" y="4561780"/>
            <a:ext cx="353508" cy="353516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20360" y="4591199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1164204" y="4615755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Franchise age carries a real premium.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64204" y="4950817"/>
            <a:ext cx="1036601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Legacy $195.75M vs. expansion $132.00M (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t-test p = 0.0181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). Brand equity accumulates with time and cannot be purchased.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475" y="5494437"/>
            <a:ext cx="353508" cy="353516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0360" y="5523855"/>
            <a:ext cx="235639" cy="2945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kern="0" spc="-19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5</a:t>
            </a:r>
            <a:endParaRPr lang="en-US" sz="1850" dirty="0"/>
          </a:p>
        </p:txBody>
      </p:sp>
      <p:sp>
        <p:nvSpPr>
          <p:cNvPr id="21" name="Text 19"/>
          <p:cNvSpPr/>
          <p:nvPr/>
        </p:nvSpPr>
        <p:spPr>
          <a:xfrm>
            <a:off x="1164204" y="5548412"/>
            <a:ext cx="1036601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15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league is competitively balanced.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64204" y="5883473"/>
            <a:ext cx="10366016" cy="245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NRR across 128 team-seasons is normally distributed (</a:t>
            </a:r>
            <a:r>
              <a:rPr lang="en-US" sz="1200" b="1" kern="0" spc="-25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W = 0.99, p = 0.515</a:t>
            </a:r>
            <a:r>
              <a:rPr lang="en-US" sz="1200" kern="0" spc="-25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) - no dynasty effect. Differentiation must come from off-field activity.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6796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kern="0" spc="-26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Business Recommendation</a:t>
            </a:r>
            <a:endParaRPr lang="en-US" sz="360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448991"/>
            <a:ext cx="10868745" cy="570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00" b="1" kern="0" spc="-36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→ Off-Field Digital Content and Fan Engagement</a:t>
            </a:r>
            <a:endParaRPr lang="en-US" sz="3200" b="1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228411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Evidence Chain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609850"/>
            <a:ext cx="2583592" cy="9960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88978" y="2761159"/>
            <a:ext cx="220478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β = 0.661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88978" y="3073598"/>
            <a:ext cx="22047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Highest standardised beta - nearly 3× titles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831" y="2609850"/>
            <a:ext cx="2583691" cy="9960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78334" y="2761159"/>
            <a:ext cx="22048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p = 0.0017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3578334" y="3073598"/>
            <a:ext cx="22048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Only significant predictor in multiple regression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711674"/>
            <a:ext cx="2583592" cy="9960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88978" y="3862983"/>
            <a:ext cx="2204784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ΔR² = 0.118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88978" y="4175423"/>
            <a:ext cx="220478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Contributes after performance and market size are controlled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831" y="3711674"/>
            <a:ext cx="2583691" cy="9960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78334" y="3862983"/>
            <a:ext cx="2204883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+$4.12M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578334" y="4175423"/>
            <a:ext cx="220488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kern="0" spc="-21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Brand value per additional million followers</a:t>
            </a:r>
            <a:endParaRPr lang="en-US" sz="1000" dirty="0"/>
          </a:p>
        </p:txBody>
      </p:sp>
      <p:sp>
        <p:nvSpPr>
          <p:cNvPr id="17" name="Text 11"/>
          <p:cNvSpPr/>
          <p:nvPr/>
        </p:nvSpPr>
        <p:spPr>
          <a:xfrm>
            <a:off x="6263523" y="2284115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kern="0" spc="-13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Not the Alternatives?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9930029"/>
              </p:ext>
            </p:extLst>
          </p:nvPr>
        </p:nvGraphicFramePr>
        <p:xfrm>
          <a:off x="6263523" y="2609850"/>
          <a:ext cx="5273046" cy="2101798"/>
        </p:xfrm>
        <a:graphic>
          <a:graphicData uri="http://schemas.openxmlformats.org/drawingml/2006/table">
            <a:tbl>
              <a:tblPr/>
              <a:tblGrid>
                <a:gridCol w="1757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76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76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3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Lever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Verdict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Evidence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Auction spend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Capped out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p = 0.32; P = 0.50; 9 of 10 teams within ₹0.50 Cr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Market expansion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Fixed &amp; weakest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β = 0.106, p = 0.59 franchise cannot relocate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35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On-field performance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Largely stochastic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kern="0" spc="-21" dirty="0">
                          <a:solidFill>
                            <a:srgbClr val="E0D6DE"/>
                          </a:solidFill>
                          <a:latin typeface="Fira Sans" pitchFamily="34" charset="0"/>
                          <a:ea typeface="Fira Sans" pitchFamily="34" charset="-122"/>
                          <a:cs typeface="Fira Sans" pitchFamily="34" charset="-120"/>
                        </a:rPr>
                        <a:t>NRR normally distributed; win % loads negatively (β = −0.133)</a:t>
                      </a:r>
                      <a:endParaRPr lang="en-US" sz="1000" dirty="0">
                        <a:latin typeface="Fira Sans" charset="0"/>
                        <a:ea typeface="Fira Sans" charset="0"/>
                        <a:cs typeface="Fira Sans" charset="0"/>
                      </a:endParaRPr>
                    </a:p>
                  </a:txBody>
                  <a:tcPr marL="132313" marR="132313" marT="6350" marB="6350" anchor="ctr">
                    <a:lnL w="12700" cap="flat" cmpd="sng" algn="ctr">
                      <a:solidFill>
                        <a:srgbClr val="1F1F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Shape 12"/>
          <p:cNvSpPr/>
          <p:nvPr/>
        </p:nvSpPr>
        <p:spPr>
          <a:xfrm>
            <a:off x="6263523" y="4843463"/>
            <a:ext cx="5273047" cy="1018580"/>
          </a:xfrm>
          <a:prstGeom prst="roundRect">
            <a:avLst>
              <a:gd name="adj" fmla="val 1948"/>
            </a:avLst>
          </a:prstGeom>
          <a:solidFill>
            <a:srgbClr val="7A0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78" y="4999831"/>
            <a:ext cx="165294" cy="132259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693328" y="4971752"/>
            <a:ext cx="4710987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kern="0" spc="-21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The RCB proof case:</a:t>
            </a:r>
            <a:r>
              <a:rPr lang="en-US" sz="1000" kern="0" spc="-2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The league's most valuable brand ($269M → $312M) is a statistically average team (48.25% win rate, p = 0.60) with only 2 titles - but the </a:t>
            </a:r>
            <a:r>
              <a:rPr lang="en-US" sz="1000" b="1" kern="0" spc="-21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largest social following at 31.8M</a:t>
            </a:r>
            <a:r>
              <a:rPr lang="en-US" sz="1000" kern="0" spc="-2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Titles remain the second-strongest driver (β = 0.232) and should not be abandoned. The claim is one of </a:t>
            </a:r>
            <a:r>
              <a:rPr lang="en-US" sz="1000" b="1" kern="0" spc="-21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marginal efficiency</a:t>
            </a:r>
            <a:r>
              <a:rPr lang="en-US" sz="1000" kern="0" spc="-21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39180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28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Limitations &amp; Future Scope</a:t>
            </a:r>
            <a:endParaRPr lang="en-US" sz="2750" b="1" dirty="0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1475" y="1477070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Limitations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1811933"/>
            <a:ext cx="5281976" cy="10013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0064" y="1830983"/>
            <a:ext cx="508433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Only one League :(n = 10)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40064" y="2170013"/>
            <a:ext cx="5084338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All results are directional, not high-powered inference. With 5 predictors against 10 observations, Block 3 coefficients are individually insignificant despite strong overall fit.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3014067"/>
            <a:ext cx="5281976" cy="793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0064" y="3033117"/>
            <a:ext cx="508433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Correlation ≠ causation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840064" y="3372148"/>
            <a:ext cx="508433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arrow between following and value may run both ways - well-run franchises likely invest more in content, so engagement may be partly downstream of success.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25" y="4008140"/>
            <a:ext cx="5281976" cy="100131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40064" y="4027190"/>
            <a:ext cx="508433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Cross-sectional design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840064" y="4366220"/>
            <a:ext cx="5084338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2025 brand value against all-time performance; a panel would separate long-run equity from current form. Win% excludes 2024–2026 - recent-form effects not captured.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425" y="5210274"/>
            <a:ext cx="5281976" cy="79325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40064" y="5229324"/>
            <a:ext cx="5084338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Third-party valuations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840064" y="5568355"/>
            <a:ext cx="5084338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Houlihan Lokey figures are institutional estimates, not audited financials. City GDP is an approximation - India publishes no official city-level series.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273643" y="1477070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14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Future Scope</a:t>
            </a:r>
            <a:endParaRPr lang="en-US" sz="13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6327" y="1837928"/>
            <a:ext cx="210835" cy="2108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730435" y="1830983"/>
            <a:ext cx="480613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Extend to a 2020–2026 panel for fixed-effects estimation and causal inference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6327" y="2505571"/>
            <a:ext cx="210835" cy="21084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730435" y="2498626"/>
            <a:ext cx="480613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Add engagement </a:t>
            </a:r>
            <a:r>
              <a:rPr lang="en-US" sz="1100" i="1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quality</a:t>
            </a: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metrics -impressions, watch-time, engagement rate - beyond raw follower counts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6327" y="3173214"/>
            <a:ext cx="210835" cy="21084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6730435" y="3166269"/>
            <a:ext cx="480613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Incorporate merchandise revenue, gate receipts, and jersey-sponsorship values as additional dependent variables</a:t>
            </a:r>
            <a:endParaRPr lang="en-US" sz="11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26327" y="3840857"/>
            <a:ext cx="210835" cy="21084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730435" y="3833912"/>
            <a:ext cx="480613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kern="0" spc="-22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Instrumental-variable approach to isolate the causal effect of digital investment on valuation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341780" y="506504"/>
            <a:ext cx="6296860" cy="361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000" b="1" kern="0" spc="-2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The RCB Paradox: </a:t>
            </a:r>
          </a:p>
          <a:p>
            <a:pPr marL="0" indent="0" algn="ctr">
              <a:lnSpc>
                <a:spcPct val="104000"/>
              </a:lnSpc>
              <a:buNone/>
            </a:pPr>
            <a:r>
              <a:rPr lang="en-US" sz="2000" b="1" kern="0" spc="-23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A Case Study in Attention Economics</a:t>
            </a:r>
            <a:endParaRPr lang="en-US" sz="2000" b="1" dirty="0">
              <a:latin typeface="+mj-lt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77899" y="1391543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kern="0" spc="-3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$269M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233360" y="1892201"/>
            <a:ext cx="629686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11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2025 Brand Value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233360" y="2121694"/>
            <a:ext cx="629686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kern="0" spc="-1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#1 in the league - despite only 2 titles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177899" y="2499023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kern="0" spc="-3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31.8M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5233360" y="2999680"/>
            <a:ext cx="629686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11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Social Followers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233360" y="3229173"/>
            <a:ext cx="629686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kern="0" spc="-1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Largest following of any IPL franchise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177899" y="3606502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kern="0" spc="-3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48.25%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5233360" y="4107160"/>
            <a:ext cx="629686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11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All-Time Win Rate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233360" y="4336653"/>
            <a:ext cx="629686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kern="0" spc="-1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Statistically indistinguishable from a coin flip (p = 0.5972)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177899" y="4713982"/>
            <a:ext cx="4407782" cy="382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000" kern="0" spc="-30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$312M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233360" y="5214640"/>
            <a:ext cx="6296860" cy="1808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spc="-11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2026 Brand Value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33360" y="5444133"/>
            <a:ext cx="6296860" cy="157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900" kern="0" spc="-1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Growing - without a third title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233360" y="5863082"/>
            <a:ext cx="62968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900" kern="0" spc="-1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RCB is the empirical proof that </a:t>
            </a:r>
            <a:r>
              <a:rPr lang="en-US" sz="900" b="1" kern="0" spc="-18" dirty="0">
                <a:solidFill>
                  <a:srgbClr val="E0D6DE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attention is the asset</a:t>
            </a:r>
            <a:r>
              <a:rPr lang="en-US" sz="900" kern="0" spc="-18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 A statistically average team with 2 trophies commands the league's highest valuation by monetising engagement, not silverware.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2A07B9-91F3-6142-91E3-20381779871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525" r="22215"/>
          <a:stretch/>
        </p:blipFill>
        <p:spPr>
          <a:xfrm>
            <a:off x="697360" y="717982"/>
            <a:ext cx="4536000" cy="492514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4329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24" dirty="0">
                <a:solidFill>
                  <a:srgbClr val="FA95AF"/>
                </a:solidFill>
                <a:latin typeface="+mj-lt"/>
                <a:ea typeface="Anton" pitchFamily="34" charset="-122"/>
                <a:cs typeface="Anton" pitchFamily="34" charset="-120"/>
              </a:rPr>
              <a:t>The Capital Allocation Decision</a:t>
            </a:r>
            <a:endParaRPr lang="en-US" sz="2400" b="1" dirty="0">
              <a:latin typeface="+mj-lt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5705" y="1015901"/>
            <a:ext cx="7906432" cy="44474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61475" y="5767884"/>
            <a:ext cx="10868745" cy="585787"/>
          </a:xfrm>
          <a:prstGeom prst="roundRect">
            <a:avLst>
              <a:gd name="adj" fmla="val 3176"/>
            </a:avLst>
          </a:prstGeom>
          <a:solidFill>
            <a:srgbClr val="7A06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495" y="5903913"/>
            <a:ext cx="154976" cy="1240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64491" y="5891808"/>
            <a:ext cx="10341708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kern="0" spc="-2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The next marginal million dollars buys more brand value in </a:t>
            </a:r>
            <a:r>
              <a:rPr lang="en-US" sz="950" b="1" kern="0" spc="-20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content and community</a:t>
            </a:r>
            <a:r>
              <a:rPr lang="en-US" sz="950" kern="0" spc="-2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 than in the auction room. Titles remain important (β = 0.232) - but the marginal return on digital investment is nearly </a:t>
            </a:r>
            <a:r>
              <a:rPr lang="en-US" sz="950" b="1" kern="0" spc="-20" dirty="0">
                <a:solidFill>
                  <a:srgbClr val="FFFFFF"/>
                </a:solidFill>
                <a:latin typeface="Fira Sans Bold" pitchFamily="34" charset="0"/>
                <a:ea typeface="Fira Sans Bold" pitchFamily="34" charset="-122"/>
                <a:cs typeface="Fira Sans Bold" pitchFamily="34" charset="-120"/>
              </a:rPr>
              <a:t>3× greater</a:t>
            </a:r>
            <a:r>
              <a:rPr lang="en-US" sz="950" kern="0" spc="-20" dirty="0">
                <a:solidFill>
                  <a:srgbClr val="FFFFFF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508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58789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FA95A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TEAM SHARK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5" y="2094409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Pranav C Satheesh (264024021) · Kunwar Atul Ang (252241017) · Parth Aravind Deshmukh (264024020)</a:t>
            </a:r>
            <a:endParaRPr lang="en-US" sz="13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300" i="1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BM5104H -Business Statistics and Data Analysis for Management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036987"/>
            <a:ext cx="10868745" cy="19050"/>
          </a:xfrm>
          <a:prstGeom prst="roundRect">
            <a:avLst>
              <a:gd name="adj" fmla="val 49999"/>
            </a:avLst>
          </a:prstGeom>
          <a:solidFill>
            <a:srgbClr val="E0D6D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61475" y="3283347"/>
            <a:ext cx="3512653" cy="1746746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6769" y="3448645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Finding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3806329"/>
            <a:ext cx="31820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Digital engagement (β = 0.661) is the dominant driver of IPL franchise brand value - outweighing titles, market size, and spending combined.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9422" y="3283347"/>
            <a:ext cx="3512752" cy="1746746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4716" y="3448645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Proof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04716" y="3806329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RCB: $269M → $312M, 2 titles, 48.25% win rate, 31.8M followers. Attention is the asset.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17468" y="3283347"/>
            <a:ext cx="3512653" cy="1746746"/>
          </a:xfrm>
          <a:prstGeom prst="roundRect">
            <a:avLst>
              <a:gd name="adj" fmla="val 1420"/>
            </a:avLst>
          </a:prstGeom>
          <a:solidFill>
            <a:srgbClr val="3E3E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2762" y="3448645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16" dirty="0">
                <a:solidFill>
                  <a:srgbClr val="E0D6D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The Recommendation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2762" y="3806329"/>
            <a:ext cx="31820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Send the next marginal million dollars into off-field digital content and fan engagement. +$4.12M per million followers.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9516" y="5402163"/>
            <a:ext cx="112302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4000" i="1" kern="0" spc="-26" dirty="0">
                <a:solidFill>
                  <a:srgbClr val="E0D6DE"/>
                </a:solidFill>
                <a:latin typeface="Fira Sans" pitchFamily="34" charset="0"/>
                <a:ea typeface="Fira Sans" pitchFamily="34" charset="-122"/>
                <a:cs typeface="Fira Sans" pitchFamily="34" charset="-120"/>
              </a:rPr>
              <a:t>Questions?</a:t>
            </a:r>
            <a:endParaRPr lang="en-US" sz="4000" dirty="0"/>
          </a:p>
          <a:p>
            <a:pPr marL="0" indent="0" algn="l">
              <a:lnSpc>
                <a:spcPct val="133000"/>
              </a:lnSpc>
              <a:buNone/>
            </a:pP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817244" y="5526164"/>
            <a:ext cx="19050" cy="636687"/>
          </a:xfrm>
          <a:prstGeom prst="roundRect">
            <a:avLst>
              <a:gd name="adj" fmla="val 49999"/>
            </a:avLst>
          </a:prstGeom>
          <a:solidFill>
            <a:srgbClr val="FA95AE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{1CB6A16D-1A03-4648-98BE-1425EF1973CB}tf10001079_mac</Template>
  <TotalTime>249</TotalTime>
  <Words>3356</Words>
  <Application>Microsoft Macintosh PowerPoint</Application>
  <PresentationFormat>Widescreen</PresentationFormat>
  <Paragraphs>657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Fira Sans Bold</vt:lpstr>
      <vt:lpstr>Times New Roman</vt:lpstr>
      <vt:lpstr>Century Gothic</vt:lpstr>
      <vt:lpstr>Arial</vt:lpstr>
      <vt:lpstr>Anton</vt:lpstr>
      <vt:lpstr>Fira Sans</vt:lpstr>
      <vt:lpstr>Vapor Trail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KUNWAR ATUL ANG</cp:lastModifiedBy>
  <cp:revision>5</cp:revision>
  <cp:lastPrinted>2026-09-07T16:35:19Z</cp:lastPrinted>
  <dcterms:created xsi:type="dcterms:W3CDTF">2026-09-06T18:19:17Z</dcterms:created>
  <dcterms:modified xsi:type="dcterms:W3CDTF">2026-09-08T17:27:12Z</dcterms:modified>
</cp:coreProperties>
</file>